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ae9f7622794528" /><Relationship Type="http://schemas.openxmlformats.org/officeDocument/2006/relationships/extended-properties" Target="/docProps/app.xml" Id="Rff105f8455fa419a" /><Relationship Type="http://schemas.openxmlformats.org/officeDocument/2006/relationships/officeDocument" Target="/ppt/presentation.xml" Id="Reee359b9b5a84c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671b8ca7a9468a"/>
  </p:sldMasterIdLst>
  <p:notesMasterIdLst>
    <p:notesMasterId xmlns:r="http://schemas.openxmlformats.org/officeDocument/2006/relationships" r:id="Raf86f8d9355249df"/>
  </p:notesMasterIdLst>
  <p:sldIdLst>
    <p:sldId xmlns:r="http://schemas.openxmlformats.org/officeDocument/2006/relationships" id="256" r:id="Rafc5cbf81acd4e97"/>
    <p:sldId xmlns:r="http://schemas.openxmlformats.org/officeDocument/2006/relationships" id="257" r:id="R8b33a508a8db4901"/>
    <p:sldId xmlns:r="http://schemas.openxmlformats.org/officeDocument/2006/relationships" id="258" r:id="R5fdc797e27694e23"/>
    <p:sldId xmlns:r="http://schemas.openxmlformats.org/officeDocument/2006/relationships" id="259" r:id="R3a963fe9810f46e6"/>
    <p:sldId xmlns:r="http://schemas.openxmlformats.org/officeDocument/2006/relationships" id="260" r:id="R53de015b8ce747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38f2f9bbc437c" /><Relationship Type="http://schemas.openxmlformats.org/officeDocument/2006/relationships/slideMaster" Target="/ppt/slideMasters/slideMaster1.xml" Id="Re1671b8ca7a9468a" /><Relationship Type="http://schemas.openxmlformats.org/officeDocument/2006/relationships/notesMaster" Target="/ppt/notesMasters/notesMaster1.xml" Id="Raf86f8d9355249df" /><Relationship Type="http://schemas.openxmlformats.org/officeDocument/2006/relationships/presProps" Target="/ppt/presProps.xml" Id="R4b09b68876dc4373" /><Relationship Type="http://schemas.openxmlformats.org/officeDocument/2006/relationships/tableStyles" Target="/ppt/tableStyles.xml" Id="R6b7c9971437b4dc8" /><Relationship Type="http://schemas.openxmlformats.org/officeDocument/2006/relationships/slide" Target="/ppt/slides/slide1.xml" Id="Rafc5cbf81acd4e97" /><Relationship Type="http://schemas.openxmlformats.org/officeDocument/2006/relationships/slide" Target="/ppt/slides/slide2.xml" Id="R8b33a508a8db4901" /><Relationship Type="http://schemas.openxmlformats.org/officeDocument/2006/relationships/slide" Target="/ppt/slides/slide3.xml" Id="R5fdc797e27694e23" /><Relationship Type="http://schemas.openxmlformats.org/officeDocument/2006/relationships/slide" Target="/ppt/slides/slide4.xml" Id="R3a963fe9810f46e6" /><Relationship Type="http://schemas.openxmlformats.org/officeDocument/2006/relationships/slide" Target="/ppt/slides/slide5.xml" Id="R53de015b8ce747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5ddafeae8e48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2a273ef694de9" /><Relationship Type="http://schemas.openxmlformats.org/officeDocument/2006/relationships/notesMaster" Target="/ppt/notesMasters/notesMaster1.xml" Id="R78ad9fd4ee2043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e2c6a7281e4b2f" /><Relationship Type="http://schemas.openxmlformats.org/officeDocument/2006/relationships/notesMaster" Target="/ppt/notesMasters/notesMaster1.xml" Id="R857768b10f8b45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90e6bb18ec4f8a" /><Relationship Type="http://schemas.openxmlformats.org/officeDocument/2006/relationships/notesMaster" Target="/ppt/notesMasters/notesMaster1.xml" Id="Rc7b8baed5c674f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da7d67ed2743a3" /><Relationship Type="http://schemas.openxmlformats.org/officeDocument/2006/relationships/notesMaster" Target="/ppt/notesMasters/notesMaster1.xml" Id="Rde86ae6ff3b74a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93f65c4771416d" /><Relationship Type="http://schemas.openxmlformats.org/officeDocument/2006/relationships/notesMaster" Target="/ppt/notesMasters/notesMaster1.xml" Id="R0cd95021e01941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6b4aeb08347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032aecf9de494b" /><Relationship Type="http://schemas.openxmlformats.org/officeDocument/2006/relationships/slideLayout" Target="/ppt/slideLayouts/slideLayout1.xml" Id="R09e42976fe904e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e42976fe904e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bffbde9bd4b5f" /><Relationship Type="http://schemas.openxmlformats.org/officeDocument/2006/relationships/notesSlide" Target="/ppt/notesSlides/notesSlide1.xml" Id="Re272975bb1ab4e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f20ce0fc74be0" /><Relationship Type="http://schemas.openxmlformats.org/officeDocument/2006/relationships/notesSlide" Target="/ppt/notesSlides/notesSlide2.xml" Id="R748a276f43a349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1e3bf5fe34d99" /><Relationship Type="http://schemas.openxmlformats.org/officeDocument/2006/relationships/notesSlide" Target="/ppt/notesSlides/notesSlide3.xml" Id="R9885ef6d1ebf45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63213e2c04c4a" /><Relationship Type="http://schemas.openxmlformats.org/officeDocument/2006/relationships/notesSlide" Target="/ppt/notesSlides/notesSlide4.xml" Id="Rce775f50096b49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0d4464ca64f29" /><Relationship Type="http://schemas.openxmlformats.org/officeDocument/2006/relationships/notesSlide" Target="/ppt/notesSlides/notesSlide5.xml" Id="R6b2a33ca5a26445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7E1ED-63EA-4FD8-9465-8DDC2E6E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75765-C4FB-416C-9EDB-E1972537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070"/>
                </a:solidFill>
              </a:defRPr>
            </a:pPr>
            <a:r>
              <a:rPr sz="1050" b="1">
                <a:solidFill>
                  <a:srgbClr val="536070"/>
                </a:solidFill>
              </a:rPr>
              <a:t>NOMAD JUMP TOOLKIT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328EC-B1D7-41CD-879F-4ACB307C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429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Turn a debug bundle into</a:t>
            </a:r>
          </a:p>
          <a:p xmlns:a="http://schemas.openxmlformats.org/drawingml/2006/main">
            <a:pPr algn="l">
              <a:defRPr sz="4350" b="1">
                <a:solidFill>
                  <a:srgbClr val="101827"/>
                </a:solidFill>
              </a:defRPr>
            </a:pPr>
            <a:r>
              <a:rPr sz="4350" b="1">
                <a:solidFill>
                  <a:srgbClr val="101827"/>
                </a:solidFill>
              </a:rPr>
              <a:t>defensible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177CF-687A-4260-8C8A-C202D8EB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070"/>
                </a:solidFill>
              </a:defRPr>
            </a:pPr>
            <a:r>
              <a:rPr sz="1875" b="0">
                <a:solidFill>
                  <a:srgbClr val="536070"/>
                </a:solidFill>
              </a:rPr>
              <a:t>Offline, read-only forensic helpers for Nomad operators and SREs.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21521-F388-4A76-8BCA-DE72F022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123950"/>
            <a:ext cx="3238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BBBB6-C236-4539-9D15-E115B0A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5811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070"/>
                </a:solidFill>
              </a:defRPr>
            </a:pPr>
            <a:r>
              <a:rPr sz="1050" b="1">
                <a:solidFill>
                  <a:srgbClr val="536070"/>
                </a:solidFill>
              </a:rPr>
              <a:t>RAW BUNDLE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FD231-CB00-40D5-BE4A-07526812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7647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</a:defRPr>
            </a:pPr>
            <a:r>
              <a:rPr sz="37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0BB52-459D-46F4-9540-8D4CA1DE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305175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REVIEWABLE</a:t>
            </a:r>
          </a:p>
          <a:p xmlns:a="http://schemas.openxmlformats.org/drawingml/2006/main">
            <a:pPr algn="l">
              <a:defRPr sz="1950" b="1">
                <a:solidFill>
                  <a:srgbClr val="101827"/>
                </a:solidFill>
              </a:defRPr>
            </a:pPr>
            <a:r>
              <a:rPr sz="1950" b="1">
                <a:solidFill>
                  <a:srgbClr val="101827"/>
                </a:solidFill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C3E53-6797-44C2-B434-01FE2C45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3053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0"/>
                </a:solidFill>
              </a:defRPr>
            </a:pPr>
            <a:r>
              <a:rPr sz="1275" b="0">
                <a:solidFill>
                  <a:srgbClr val="536070"/>
                </a:solidFill>
              </a:rPr>
              <a:t>Markdown · CSV · JSON</a:t>
            </a:r>
          </a:p>
          <a:p xmlns:a="http://schemas.openxmlformats.org/drawingml/2006/main">
            <a:pPr algn="l">
              <a:defRPr sz="1275" b="0">
                <a:solidFill>
                  <a:srgbClr val="536070"/>
                </a:solidFill>
              </a:defRPr>
            </a:pPr>
            <a:r>
              <a:rPr sz="1275" b="0">
                <a:solidFill>
                  <a:srgbClr val="536070"/>
                </a:solidFill>
              </a:rPr>
              <a:t>with provenance retained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61A26-D389-4904-8C9C-CF4A825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0"/>
                </a:solidFill>
              </a:defRPr>
            </a:pPr>
            <a:r>
              <a:rPr sz="1200" b="0">
                <a:solidFill>
                  <a:srgbClr val="536070"/>
                </a:solidFill>
              </a:rPr>
              <a:t>CLI overview + live demo</a:t>
            </a:r>
          </a:p>
        </p:txBody>
      </p:sp>
    </p:spTree>
    <p:extLst>
      <p:ext uri="{BB962C8B-B14F-4D97-AF65-F5344CB8AC3E}">
        <p14:creationId xmlns:p14="http://schemas.microsoft.com/office/powerpoint/2010/main" val="9231664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191B9A-52E9-4CB3-947C-AF140C29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70"/>
                </a:solidFill>
              </a:defRPr>
            </a:pPr>
            <a:r>
              <a:rPr sz="900" b="1">
                <a:solidFill>
                  <a:srgbClr val="536070"/>
                </a:solidFill>
              </a:rPr>
              <a:t>NOMAD JUMP TOOLKIT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78714-C02A-4738-9C0F-2BF67EE4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19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070"/>
                </a:solidFill>
              </a:defRPr>
            </a:pPr>
            <a:r>
              <a:rPr sz="900" b="1">
                <a:solidFill>
                  <a:srgbClr val="536070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5B733-5C26-4B9E-AB61-EEFA0AF8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1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52B5D-7AA4-4293-8CF0-95A7523E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85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7"/>
                </a:solidFill>
              </a:defRPr>
            </a:pPr>
            <a:r>
              <a:rPr sz="3075" b="1">
                <a:solidFill>
                  <a:srgbClr val="101827"/>
                </a:solidFill>
              </a:rPr>
              <a:t>The investigation starts with</a:t>
            </a:r>
          </a:p>
          <a:p xmlns:a="http://schemas.openxmlformats.org/drawingml/2006/main">
            <a:pPr algn="l">
              <a:defRPr sz="3075" b="1">
                <a:solidFill>
                  <a:srgbClr val="101827"/>
                </a:solidFill>
              </a:defRPr>
            </a:pPr>
            <a:r>
              <a:rPr sz="3075" b="1">
                <a:solidFill>
                  <a:srgbClr val="101827"/>
                </a:solidFill>
              </a:rPr>
              <a:t>constraints, not a theory.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4CF3F-38EE-43B6-A8DF-A335C1E3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070"/>
                </a:solidFill>
              </a:defRPr>
            </a:pPr>
            <a:r>
              <a:rPr sz="1575" b="0">
                <a:solidFill>
                  <a:srgbClr val="536070"/>
                </a:solidFill>
              </a:rPr>
              <a:t>A debug bundle can be large, partial, and collected across intervals. The tool’s job is to make the captured evidence reviewable without broadening or mutating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3CEEC-A0EB-49E3-A0C8-58AF810C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066800"/>
            <a:ext cx="395287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65090-2218-4E4F-9F57-F5E2F2D6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52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0EF6B-4AA8-47A0-9629-53FC5194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859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Read-only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06D83-DE4B-42BA-8240-806AFF99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478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0"/>
                </a:solidFill>
              </a:defRPr>
            </a:pPr>
            <a:r>
              <a:rPr sz="1350" b="0">
                <a:solidFill>
                  <a:srgbClr val="536070"/>
                </a:solidFill>
              </a:rPr>
              <a:t>Source artifacts stay untouched; derived files live outside the bundle.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53B5D-2027-414F-96A4-7C490B64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86E21-520B-470D-BB87-08C70635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72415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Offline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4E3D4-E14A-4957-AC36-4ECB5D62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0861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0"/>
                </a:solidFill>
              </a:defRPr>
            </a:pPr>
            <a:r>
              <a:rPr sz="1350" b="0">
                <a:solidFill>
                  <a:srgbClr val="536070"/>
                </a:solidFill>
              </a:rPr>
              <a:t>No network dependency—appropriate for restricted jump boxes.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14436-EA27-44CC-B0BB-7687ABE9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29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23BED3-4D76-4306-8CDC-436C8758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624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Bounded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F66E4-FA2B-4FC2-8214-F4EF9788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3243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0"/>
                </a:solidFill>
              </a:defRPr>
            </a:pPr>
            <a:r>
              <a:rPr sz="1350" b="0">
                <a:solidFill>
                  <a:srgbClr val="536070"/>
                </a:solidFill>
              </a:rPr>
              <a:t>Summaries in the terminal; complete derived evidence in files.</a:t>
            </a:r>
          </a:p>
        </p:txBody>
      </p:sp>
    </p:spTree>
    <p:extLst>
      <p:ext uri="{BB962C8B-B14F-4D97-AF65-F5344CB8AC3E}">
        <p14:creationId xmlns:p14="http://schemas.microsoft.com/office/powerpoint/2010/main" val="213342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CCCA8-25B4-4FDD-AE77-807B5D98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70"/>
                </a:solidFill>
              </a:defRPr>
            </a:pPr>
            <a:r>
              <a:rPr sz="900" b="1">
                <a:solidFill>
                  <a:srgbClr val="536070"/>
                </a:solidFill>
              </a:rPr>
              <a:t>NOMAD JUMP TOOLKIT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1FD54-5413-481B-8B33-24AEAEF0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19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070"/>
                </a:solidFill>
              </a:defRPr>
            </a:pPr>
            <a:r>
              <a:rPr sz="900" b="1">
                <a:solidFill>
                  <a:srgbClr val="536070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083B5-E476-4B12-983D-19CF9E81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1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A9A00-53EC-43C9-82D5-FD9EC348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7"/>
                </a:solidFill>
              </a:defRPr>
            </a:pPr>
            <a:r>
              <a:rPr sz="3075" b="1">
                <a:solidFill>
                  <a:srgbClr val="101827"/>
                </a:solidFill>
              </a:rPr>
              <a:t>A small workflow prevents a big</a:t>
            </a:r>
          </a:p>
          <a:p xmlns:a="http://schemas.openxmlformats.org/drawingml/2006/main">
            <a:pPr algn="l">
              <a:defRPr sz="3075" b="1">
                <a:solidFill>
                  <a:srgbClr val="101827"/>
                </a:solidFill>
              </a:defRPr>
            </a:pPr>
            <a:r>
              <a:rPr sz="3075" b="1">
                <a:solidFill>
                  <a:srgbClr val="101827"/>
                </a:solidFill>
              </a:rPr>
              <a:t>amount of accidental inference.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7D1E10-338D-41DE-A1E3-EC4DD4B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383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71AA7-619B-4113-9728-24E9DBE8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1. Inventory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31BAD-53A4-4A8B-BF29-C43C41C0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79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0"/>
                </a:solidFill>
              </a:defRPr>
            </a:pPr>
            <a:r>
              <a:rPr sz="1350" b="0">
                <a:solidFill>
                  <a:srgbClr val="536070"/>
                </a:solidFill>
              </a:rPr>
              <a:t>Establish capture coverage and artifacts.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A914A-DB81-439A-B230-AC767C84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27874-5099-4C9E-B0D1-41E3A969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81300"/>
            <a:ext cx="22383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CC487-6176-4D10-B537-BABDAF03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67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2. Seed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C113A-E043-4472-A8E1-84CC6A14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62350"/>
            <a:ext cx="179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0"/>
                </a:solidFill>
              </a:defRPr>
            </a:pPr>
            <a:r>
              <a:rPr sz="1350" b="0">
                <a:solidFill>
                  <a:srgbClr val="536070"/>
                </a:solidFill>
              </a:rPr>
              <a:t>Start with a ticket or alert identifier.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E29F9F-CB7B-413C-B7D0-AD103547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766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9A851C-E347-4AD1-8CA3-319F95E9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81300"/>
            <a:ext cx="22383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04C58-BF5E-4B5F-AD3B-B48A161B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67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7"/>
                </a:solidFill>
              </a:defRPr>
            </a:pPr>
            <a:r>
              <a:rPr sz="1725" b="1">
                <a:solidFill>
                  <a:srgbClr val="101827"/>
                </a:solidFill>
              </a:rPr>
              <a:t>3. Correlate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3CBCBA-7443-4E23-AB60-458C69EB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62350"/>
            <a:ext cx="179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0"/>
                </a:solidFill>
              </a:defRPr>
            </a:pPr>
            <a:r>
              <a:rPr sz="1350" b="0">
                <a:solidFill>
                  <a:srgbClr val="536070"/>
                </a:solidFill>
              </a:rPr>
              <a:t>Build a bounded lifecycle across evidence types.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1FB9A-8B1B-48D5-87D3-534909E2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766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35077-90AF-49B7-A6DF-8BBF0F4C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81300"/>
            <a:ext cx="22383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ADE70-016F-4039-9D8D-F316C929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67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4. 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CA9334-8708-4451-8FC9-49E4D34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62350"/>
            <a:ext cx="179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070"/>
                </a:solidFill>
              </a:defRPr>
            </a:pPr>
            <a:r>
              <a:rPr sz="1350" b="0">
                <a:solidFill>
                  <a:srgbClr val="536070"/>
                </a:solidFill>
              </a:rPr>
              <a:t>Follow only authoritative allocation or eval fields.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7D2B9E-922D-487B-8E82-79DC5E36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70"/>
                </a:solidFill>
              </a:defRPr>
            </a:pPr>
            <a:r>
              <a:rPr sz="1500" b="0">
                <a:solidFill>
                  <a:srgbClr val="536070"/>
                </a:solidFill>
              </a:rPr>
              <a:t>The result is a report set another investigator can inspect—not a story inferred from timing alone.</a:t>
            </a:r>
          </a:p>
        </p:txBody>
      </p:sp>
    </p:spTree>
    <p:extLst>
      <p:ext uri="{BB962C8B-B14F-4D97-AF65-F5344CB8AC3E}">
        <p14:creationId xmlns:p14="http://schemas.microsoft.com/office/powerpoint/2010/main" val="5079783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73ED1-46BE-4A59-975F-69984EA3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70"/>
                </a:solidFill>
              </a:defRPr>
            </a:pPr>
            <a:r>
              <a:rPr sz="900" b="1">
                <a:solidFill>
                  <a:srgbClr val="536070"/>
                </a:solidFill>
              </a:rPr>
              <a:t>NOMAD JUMP TOOLKIT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62743-6EAC-48A9-942D-B745944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19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070"/>
                </a:solidFill>
              </a:defRPr>
            </a:pPr>
            <a:r>
              <a:rPr sz="900" b="1">
                <a:solidFill>
                  <a:srgbClr val="536070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0CA39-D58E-4BEF-966F-9B38C070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1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7F1EC-5FC7-4360-834E-A66641E7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552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7"/>
                </a:solidFill>
              </a:defRPr>
            </a:pPr>
            <a:r>
              <a:rPr sz="3075" b="1">
                <a:solidFill>
                  <a:srgbClr val="101827"/>
                </a:solidFill>
              </a:rPr>
              <a:t>The terminal is the index;</a:t>
            </a:r>
          </a:p>
          <a:p xmlns:a="http://schemas.openxmlformats.org/drawingml/2006/main">
            <a:pPr algn="l">
              <a:defRPr sz="3075" b="1">
                <a:solidFill>
                  <a:srgbClr val="101827"/>
                </a:solidFill>
              </a:defRPr>
            </a:pPr>
            <a:r>
              <a:rPr sz="3075" b="1">
                <a:solidFill>
                  <a:srgbClr val="101827"/>
                </a:solidFill>
              </a:rPr>
              <a:t>the report is the handoff.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7C835-10CE-457F-B052-F2FF406A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70"/>
                </a:solidFill>
              </a:defRPr>
            </a:pPr>
            <a:r>
              <a:rPr sz="1500" b="0">
                <a:solidFill>
                  <a:srgbClr val="536070"/>
                </a:solidFill>
              </a:rPr>
              <a:t>Use one allocation ID as the seed. Pause after each bounded summary and open the generated Markdown instead of scrolling raw bundle artifacts.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AA62D-5233-4604-A82F-552EE39B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029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7EA6D-2668-4BCF-AD6C-7B3000D4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38275"/>
            <a:ext cx="4572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4F7FB"/>
                </a:solidFill>
              </a:defRPr>
            </a:pPr>
            <a:r>
              <a:rPr sz="1275" b="0">
                <a:solidFill>
                  <a:srgbClr val="F4F7FB"/>
                </a:solidFill>
              </a:rPr>
              <a:t>python3 scripts/inventory_bundle_v2.py \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</a:defRPr>
            </a:pPr>
            <a:r>
              <a:rPr sz="1275" b="0">
                <a:solidFill>
                  <a:srgbClr val="F4F7FB"/>
                </a:solidFill>
              </a:rPr>
              <a:t>  "$BUNDLE" --output analysis/demo/inventory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</a:defRPr>
            </a:pPr>
            <a:r>
              <a:rPr sz="1275" b="0">
                <a:solidFill>
                  <a:srgbClr val="F4F7FB"/>
                </a:solidFill>
              </a:rPr>
              <a:t>python3 scripts/alloc_lifecycle_v2.py \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</a:defRPr>
            </a:pPr>
            <a:r>
              <a:rPr sz="1275" b="0">
                <a:solidFill>
                  <a:srgbClr val="F4F7FB"/>
                </a:solidFill>
              </a:rPr>
              <a:t>  "$BUNDLE" --alloc "$ALLOC_ID" \</a:t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</a:defRPr>
            </a:pPr>
            <a:r>
              <a:rPr sz="1275" b="0">
                <a:solidFill>
                  <a:srgbClr val="F4F7FB"/>
                </a:solidFill>
              </a:rPr>
              <a:t>  --output analysis/demo/lifecycle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4F7FB"/>
                </a:solidFill>
              </a:defRPr>
            </a:pPr>
            <a:r>
              <a:rPr sz="1275" b="0">
                <a:solidFill>
                  <a:srgbClr val="F4F7FB"/>
                </a:solidFill>
              </a:rPr>
              <a:t>less analysis/demo/lifecycle/timeline.md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EBE831-2BE2-47AE-8B60-315E83EB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5029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824E9-51AE-4C55-96F8-3081853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619625"/>
            <a:ext cx="409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Narrate the evidence, not the flags.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12F1A-3BA3-4873-BF06-C898B88D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01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070"/>
                </a:solidFill>
              </a:defRPr>
            </a:pPr>
            <a:r>
              <a:rPr sz="1275" b="0">
                <a:solidFill>
                  <a:srgbClr val="536070"/>
                </a:solidFill>
              </a:rPr>
              <a:t>Point to interval captures, source provenance, and captured-state limits.</a:t>
            </a:r>
          </a:p>
        </p:txBody>
      </p:sp>
    </p:spTree>
    <p:extLst>
      <p:ext uri="{BB962C8B-B14F-4D97-AF65-F5344CB8AC3E}">
        <p14:creationId xmlns:p14="http://schemas.microsoft.com/office/powerpoint/2010/main" val="21450185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198C9-045F-44E0-8F76-D39B6BA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070"/>
                </a:solidFill>
              </a:defRPr>
            </a:pPr>
            <a:r>
              <a:rPr sz="900" b="1">
                <a:solidFill>
                  <a:srgbClr val="536070"/>
                </a:solidFill>
              </a:rPr>
              <a:t>NOMAD JUMP TOOLKIT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88460B-41CB-462D-ACA2-0AD0ADA9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619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070"/>
                </a:solidFill>
              </a:defRPr>
            </a:pPr>
            <a:r>
              <a:rPr sz="900" b="1">
                <a:solidFill>
                  <a:srgbClr val="536070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0EBCF-4BFF-4442-B0C8-23E7FE02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1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32884-F726-4FE5-B0BC-63C18733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429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101827"/>
                </a:solidFill>
              </a:defRPr>
            </a:pPr>
            <a:r>
              <a:rPr sz="3075" b="1">
                <a:solidFill>
                  <a:srgbClr val="101827"/>
                </a:solidFill>
              </a:rPr>
              <a:t>A demo should be honest about</a:t>
            </a:r>
          </a:p>
          <a:p xmlns:a="http://schemas.openxmlformats.org/drawingml/2006/main">
            <a:pPr algn="l">
              <a:defRPr sz="3075" b="1">
                <a:solidFill>
                  <a:srgbClr val="101827"/>
                </a:solidFill>
              </a:defRPr>
            </a:pPr>
            <a:r>
              <a:rPr sz="3075" b="1">
                <a:solidFill>
                  <a:srgbClr val="101827"/>
                </a:solidFill>
              </a:rPr>
              <a:t>what the bundle did—and did not—capture.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8FCC3-E6F0-4293-8700-4E1A239B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070"/>
                </a:solidFill>
              </a:defRPr>
            </a:pPr>
            <a:r>
              <a:rPr sz="1500" b="0">
                <a:solidFill>
                  <a:srgbClr val="536070"/>
                </a:solidFill>
              </a:rPr>
              <a:t>The bundled validation fixture demonstrates a real parser edge case: allocation and evaluation snapshots encoded as JSON-lines across multiple captures.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4F1B2-AEC9-4A07-A73B-45FC1748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04900"/>
            <a:ext cx="40576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FB691-E896-4466-98CC-C913D189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4859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36070"/>
                </a:solidFill>
              </a:defRPr>
            </a:pPr>
            <a:r>
              <a:rPr sz="975" b="1">
                <a:solidFill>
                  <a:srgbClr val="536070"/>
                </a:solidFill>
              </a:rPr>
              <a:t>VALIDATION 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41465-A2AE-46EC-9639-EAB007A9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05000"/>
            <a:ext cx="128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5B326-C969-4661-AA5C-9EAE1A39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38350"/>
            <a:ext cx="1762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070"/>
                </a:solidFill>
              </a:defRPr>
            </a:pPr>
            <a:r>
              <a:rPr sz="1425" b="0">
                <a:solidFill>
                  <a:srgbClr val="536070"/>
                </a:solidFill>
              </a:rPr>
              <a:t>interval snapshots</a:t>
            </a:r>
          </a:p>
          <a:p xmlns:a="http://schemas.openxmlformats.org/drawingml/2006/main">
            <a:pPr algn="l">
              <a:defRPr sz="1425" b="0">
                <a:solidFill>
                  <a:srgbClr val="536070"/>
                </a:solidFill>
              </a:defRPr>
            </a:pPr>
            <a:r>
              <a:rPr sz="1425" b="0">
                <a:solidFill>
                  <a:srgbClr val="536070"/>
                </a:solidFill>
              </a:rPr>
              <a:t>read successfully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10181-385E-45BE-BC1E-44F3714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32004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1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36CF5-BF48-412A-A97E-EB995198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5 servers · 1 client</a:t>
            </a:r>
          </a:p>
          <a:p xmlns:a="http://schemas.openxmlformats.org/drawingml/2006/main">
            <a:pPr algn="l">
              <a:defRPr sz="1650" b="1">
                <a:solidFill>
                  <a:srgbClr val="101827"/>
                </a:solidFill>
              </a:defRPr>
            </a:pPr>
            <a:r>
              <a:rPr sz="1650" b="1">
                <a:solidFill>
                  <a:srgbClr val="101827"/>
                </a:solidFill>
              </a:rPr>
              <a:t>eventstream captured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84B712-2B67-4EEC-93BF-0AA9F173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052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070"/>
                </a:solidFill>
              </a:defRPr>
            </a:pPr>
            <a:r>
              <a:rPr sz="1200" b="0">
                <a:solidFill>
                  <a:srgbClr val="536070"/>
                </a:solidFill>
              </a:rPr>
              <a:t>Use a sanitized fixture for recording.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0CBAD-B08B-4ED2-9499-8E279058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875A"/>
                </a:solidFill>
              </a:defRPr>
            </a:pPr>
            <a:r>
              <a:rPr sz="1650" b="1">
                <a:solidFill>
                  <a:srgbClr val="00875A"/>
                </a:solidFill>
              </a:rPr>
              <a:t>Close with the boundary: report what the capture supports, preserve missing references, and keep inferred relationships separate from authoritative fields.</a:t>
            </a:r>
          </a:p>
        </p:txBody>
      </p:sp>
    </p:spTree>
    <p:extLst>
      <p:ext uri="{BB962C8B-B14F-4D97-AF65-F5344CB8AC3E}">
        <p14:creationId xmlns:p14="http://schemas.microsoft.com/office/powerpoint/2010/main" val="10853655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2026-08-18T17:08:19.2230000Z</dcterms:created>
  <dcterms:modified xsi:type="dcterms:W3CDTF">2026-08-18T17:08:19.2230000Z</dcterms:modified>
</coreProperties>
</file>